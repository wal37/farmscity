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91088" y="237744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059168" y="685800"/>
            <a:ext cx="4425696" cy="5550408"/>
          </a:xfrm>
          <a:prstGeom prst="rect">
            <a:avLst/>
          </a:prstGeom>
          <a:solidFill>
            <a:srgbClr val="3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115568"/>
            <a:ext cx="3456432" cy="841248"/>
          </a:xfrm>
          <a:prstGeom prst="rect">
            <a:avLst/>
          </a:prstGeom>
          <a:solidFill>
            <a:srgbClr val="D7B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2249424"/>
            <a:ext cx="2697480" cy="713232"/>
          </a:xfrm>
          <a:prstGeom prst="rect">
            <a:avLst/>
          </a:prstGeom>
          <a:solidFill>
            <a:srgbClr val="B9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3273552"/>
            <a:ext cx="3456432" cy="2432304"/>
          </a:xfrm>
          <a:prstGeom prst="rect">
            <a:avLst/>
          </a:prstGeom>
          <a:solidFill>
            <a:srgbClr val="6E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932688"/>
            <a:ext cx="786384" cy="786384"/>
          </a:xfrm>
          <a:prstGeom prst="roundRect">
            <a:avLst>
              <a:gd name="adj" fmla="val 18000"/>
            </a:avLst>
          </a:prstGeom>
          <a:solidFill>
            <a:srgbClr val="13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6948" y="1412190"/>
            <a:ext cx="517862" cy="115080"/>
          </a:xfrm>
          <a:prstGeom prst="roundRect">
            <a:avLst>
              <a:gd name="adj" fmla="val 8000"/>
            </a:avLst>
          </a:prstGeom>
          <a:solidFill>
            <a:srgbClr val="D88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5308" y="1469730"/>
            <a:ext cx="441142" cy="67130"/>
          </a:xfrm>
          <a:prstGeom prst="roundRect">
            <a:avLst>
              <a:gd name="adj" fmla="val 8000"/>
            </a:avLst>
          </a:prstGeom>
          <a:solidFill>
            <a:srgbClr val="F5E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05308" y="1229979"/>
            <a:ext cx="172620" cy="153440"/>
          </a:xfrm>
          <a:prstGeom prst="rect">
            <a:avLst/>
          </a:prstGeom>
          <a:solidFill>
            <a:srgbClr val="2F7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77929" y="1201209"/>
            <a:ext cx="134260" cy="182210"/>
          </a:xfrm>
          <a:prstGeom prst="rect">
            <a:avLst/>
          </a:prstGeom>
          <a:solidFill>
            <a:srgbClr val="88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12190" y="1229979"/>
            <a:ext cx="134260" cy="153440"/>
          </a:xfrm>
          <a:prstGeom prst="rect">
            <a:avLst/>
          </a:prstGeom>
          <a:solidFill>
            <a:srgbClr val="4E7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1209" y="1066948"/>
            <a:ext cx="76720" cy="105490"/>
          </a:xfrm>
          <a:prstGeom prst="rect">
            <a:avLst/>
          </a:prstGeom>
          <a:solidFill>
            <a:srgbClr val="88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06699" y="1038178"/>
            <a:ext cx="76720" cy="115080"/>
          </a:xfrm>
          <a:prstGeom prst="rect">
            <a:avLst/>
          </a:prstGeom>
          <a:solidFill>
            <a:srgbClr val="F0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12190" y="1076538"/>
            <a:ext cx="76720" cy="95900"/>
          </a:xfrm>
          <a:prstGeom prst="rect">
            <a:avLst/>
          </a:prstGeom>
          <a:solidFill>
            <a:srgbClr val="7E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1901952"/>
            <a:ext cx="3209544" cy="3474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1965960"/>
            <a:ext cx="3044951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1D211B"/>
                </a:solidFill>
                <a:latin typeface="Aptos"/>
              </a:rPr>
              <a:t>AGRICULTURAL OPERATING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450592"/>
            <a:ext cx="5413248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FarmsCity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346704"/>
            <a:ext cx="5486400" cy="1353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0">
                <a:solidFill>
                  <a:srgbClr val="E4E8DD"/>
                </a:solidFill>
                <a:latin typeface="Aptos"/>
              </a:rPr>
              <a:t>A networked platform for crop planning, livestock operations, weather response, field records, and performance across agricultural teams.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650992"/>
            <a:ext cx="2560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Pitch deck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91088" y="237744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1D211B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50976"/>
            <a:ext cx="1371600" cy="347472"/>
          </a:xfrm>
          <a:prstGeom prst="roundRect">
            <a:avLst>
              <a:gd name="adj" fmla="val 14000"/>
            </a:avLst>
          </a:prstGeom>
          <a:solidFill>
            <a:srgbClr val="B9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014984"/>
            <a:ext cx="120700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1005840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D211B"/>
                </a:solidFill>
                <a:latin typeface="Aptos"/>
              </a:rPr>
              <a:t>Agricultural operations still fail when timing, records, and coordination are separated.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32304"/>
            <a:ext cx="10149840" cy="54864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907792"/>
            <a:ext cx="3154680" cy="1993392"/>
          </a:xfrm>
          <a:prstGeom prst="roundRect">
            <a:avLst>
              <a:gd name="adj" fmla="val 4000"/>
            </a:avLst>
          </a:prstGeom>
          <a:solidFill>
            <a:srgbClr val="E4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08960"/>
            <a:ext cx="280720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Fragmented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566160"/>
            <a:ext cx="2788920" cy="11521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Crop, livestock, labor, and weather activity are often tracked in separate places, which breaks operational continuity.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907792"/>
            <a:ext cx="3154680" cy="1993392"/>
          </a:xfrm>
          <a:prstGeom prst="roundRect">
            <a:avLst>
              <a:gd name="adj" fmla="val 4000"/>
            </a:avLst>
          </a:prstGeom>
          <a:solidFill>
            <a:srgbClr val="E8D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108960"/>
            <a:ext cx="280720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Slow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566160"/>
            <a:ext cx="2788920" cy="11521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Managers and field teams rarely share the same real-time operational picture across sites.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416" y="2907792"/>
            <a:ext cx="3154680" cy="1993392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3108960"/>
            <a:ext cx="280720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Weak network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4" y="3566160"/>
            <a:ext cx="2788920" cy="11521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Performance patterns disappear when farms and programs cannot compare clean histories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91088" y="237744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1D211B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371600" cy="347472"/>
          </a:xfrm>
          <a:prstGeom prst="roundRect">
            <a:avLst>
              <a:gd name="adj" fmla="val 14000"/>
            </a:avLst>
          </a:prstGeom>
          <a:solidFill>
            <a:srgbClr val="3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20700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585216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D211B"/>
                </a:solidFill>
                <a:latin typeface="Aptos"/>
              </a:rPr>
              <a:t>The next agricultural edge is operational intelligence, not just more raw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5669280" cy="8778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62685B"/>
                </a:solidFill>
                <a:latin typeface="Aptos"/>
              </a:rPr>
              <a:t>As cooperatives, advisory teams, and multi-site operators grow, the bottleneck shifts toward coordination, follow-through, and shared historical memory.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914400"/>
            <a:ext cx="3913632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33488" y="1225296"/>
            <a:ext cx="3310128" cy="914400"/>
          </a:xfrm>
          <a:prstGeom prst="roundRect">
            <a:avLst>
              <a:gd name="adj" fmla="val 4000"/>
            </a:avLst>
          </a:prstGeom>
          <a:solidFill>
            <a:srgbClr val="D7B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4656" y="1426464"/>
            <a:ext cx="2962656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Shift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4656" y="1883664"/>
            <a:ext cx="2944368" cy="731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Weather and input volatility make timing decisions more expensive.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3488" y="2596896"/>
            <a:ext cx="3310128" cy="914400"/>
          </a:xfrm>
          <a:prstGeom prst="roundRect">
            <a:avLst>
              <a:gd name="adj" fmla="val 4000"/>
            </a:avLst>
          </a:prstGeom>
          <a:solidFill>
            <a:srgbClr val="6E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34656" y="2798064"/>
            <a:ext cx="2962656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Shift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3255264"/>
            <a:ext cx="2944368" cy="731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Agricultural programs now need cleaner reporting from field to network level.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3488" y="3968496"/>
            <a:ext cx="3310128" cy="914400"/>
          </a:xfrm>
          <a:prstGeom prst="roundRect">
            <a:avLst>
              <a:gd name="adj" fmla="val 4000"/>
            </a:avLst>
          </a:prstGeom>
          <a:solidFill>
            <a:srgbClr val="B9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4169664"/>
            <a:ext cx="2962656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Shift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4626864"/>
            <a:ext cx="2944368" cy="731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Farm networks need shared visibility instead of isolated farm-by-farm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91088" y="237744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1D211B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914400"/>
            <a:ext cx="10698480" cy="1115568"/>
          </a:xfrm>
          <a:prstGeom prst="rect">
            <a:avLst/>
          </a:prstGeom>
          <a:solidFill>
            <a:srgbClr val="3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1152144"/>
            <a:ext cx="1371600" cy="3474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1216152"/>
            <a:ext cx="120700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1D211B"/>
                </a:solidFill>
                <a:latin typeface="Aptos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77440"/>
            <a:ext cx="969264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D211B"/>
                </a:solidFill>
                <a:latin typeface="Aptos"/>
              </a:rPr>
              <a:t>FarmsCity is a coordinated operating layer, not a single-purpose farm logbook.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182112"/>
            <a:ext cx="932688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62685B"/>
                </a:solidFill>
                <a:latin typeface="Aptos"/>
              </a:rPr>
              <a:t>The platform combines crop planning, livestock records, weather-linked timing, field activity, and performance review into one working system for farms and agricultural networks.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4187952"/>
            <a:ext cx="233172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389120"/>
            <a:ext cx="198424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Crop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46320"/>
            <a:ext cx="19659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Rotation maps, seasonal calendars, treatments, and harvest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4187952"/>
            <a:ext cx="2331720" cy="1572768"/>
          </a:xfrm>
          <a:prstGeom prst="roundRect">
            <a:avLst>
              <a:gd name="adj" fmla="val 4000"/>
            </a:avLst>
          </a:prstGeom>
          <a:solidFill>
            <a:srgbClr val="EF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4389120"/>
            <a:ext cx="198424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Livestock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4846320"/>
            <a:ext cx="19659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Health, breeding, feed, and movement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4187952"/>
            <a:ext cx="233172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4389120"/>
            <a:ext cx="198424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Weather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4846320"/>
            <a:ext cx="19659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Rainfall alerts, field timing, and task shifts.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23376" y="4187952"/>
            <a:ext cx="2331720" cy="1572768"/>
          </a:xfrm>
          <a:prstGeom prst="roundRect">
            <a:avLst>
              <a:gd name="adj" fmla="val 4000"/>
            </a:avLst>
          </a:prstGeom>
          <a:solidFill>
            <a:srgbClr val="EF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4544" y="4389120"/>
            <a:ext cx="198424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Records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4846320"/>
            <a:ext cx="19659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Inputs, labor, audit history, and financial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91088" y="237744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1D211B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50976"/>
            <a:ext cx="1530705" cy="347472"/>
          </a:xfrm>
          <a:prstGeom prst="roundRect">
            <a:avLst>
              <a:gd name="adj" fmla="val 14000"/>
            </a:avLst>
          </a:prstGeom>
          <a:solidFill>
            <a:srgbClr val="6E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014984"/>
            <a:ext cx="1366113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CORE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630936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D211B"/>
                </a:solidFill>
                <a:latin typeface="Aptos"/>
              </a:rPr>
              <a:t>The product is organized around how agricultural work actually happens.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10058400" cy="54864"/>
          </a:xfrm>
          <a:prstGeom prst="rect">
            <a:avLst/>
          </a:prstGeom>
          <a:solidFill>
            <a:srgbClr val="3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999232"/>
            <a:ext cx="3154680" cy="1975104"/>
          </a:xfrm>
          <a:prstGeom prst="roundRect">
            <a:avLst>
              <a:gd name="adj" fmla="val 4000"/>
            </a:avLst>
          </a:prstGeom>
          <a:solidFill>
            <a:srgbClr val="E4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200400"/>
            <a:ext cx="280720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Crop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657600"/>
            <a:ext cx="2788920" cy="11338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Field maps, crop rotation, planting windows, and seasonal task sequencing.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999232"/>
            <a:ext cx="3154680" cy="1975104"/>
          </a:xfrm>
          <a:prstGeom prst="roundRect">
            <a:avLst>
              <a:gd name="adj" fmla="val 4000"/>
            </a:avLst>
          </a:prstGeom>
          <a:solidFill>
            <a:srgbClr val="E8D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200400"/>
            <a:ext cx="280720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Livestock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657600"/>
            <a:ext cx="2788920" cy="11338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Animal history, breeding cycles, feed patterns, and health interventions.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416" y="2999232"/>
            <a:ext cx="3154680" cy="19751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3200400"/>
            <a:ext cx="280720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Records and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4" y="3657600"/>
            <a:ext cx="2788920" cy="11338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Inputs, field actions, losses, yields, and cross-season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E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91088" y="237744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1D211B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371600" cy="347472"/>
          </a:xfrm>
          <a:prstGeom prst="roundRect">
            <a:avLst>
              <a:gd name="adj" fmla="val 14000"/>
            </a:avLst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20700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576072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D211B"/>
                </a:solidFill>
                <a:latin typeface="Aptos"/>
              </a:rPr>
              <a:t>The operating rhythm is plan, run, respond, and learn.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767328"/>
            <a:ext cx="10012680" cy="7315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0704" y="3547872"/>
            <a:ext cx="164592" cy="493776"/>
          </a:xfrm>
          <a:prstGeom prst="rect">
            <a:avLst/>
          </a:prstGeom>
          <a:solidFill>
            <a:srgbClr val="D7B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6736" y="3035808"/>
            <a:ext cx="1828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D7B15D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4169663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D211B"/>
                </a:solidFill>
                <a:latin typeface="Aptos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4572000"/>
            <a:ext cx="1847088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Set fields, herds, targets, and weather-sensitive schedules.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2463" y="3547872"/>
            <a:ext cx="164592" cy="493776"/>
          </a:xfrm>
          <a:prstGeom prst="rect">
            <a:avLst/>
          </a:prstGeom>
          <a:solidFill>
            <a:srgbClr val="B9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8496" y="3035808"/>
            <a:ext cx="1828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B96B3C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8496" y="4169663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D211B"/>
                </a:solidFill>
                <a:latin typeface="Aptos"/>
              </a:rPr>
              <a:t>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4572000"/>
            <a:ext cx="1847088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Record labor, inputs, animal events, and field conditions.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64224" y="3547872"/>
            <a:ext cx="164592" cy="493776"/>
          </a:xfrm>
          <a:prstGeom prst="rect">
            <a:avLst/>
          </a:prstGeom>
          <a:solidFill>
            <a:srgbClr val="3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3035808"/>
            <a:ext cx="1828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3C5E31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4169663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D211B"/>
                </a:solidFill>
                <a:latin typeface="Aptos"/>
              </a:rPr>
              <a:t>Respond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4572000"/>
            <a:ext cx="1847088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Adjust quickly around rainfall, disease pressure, and supply changes.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4" y="3547872"/>
            <a:ext cx="164592" cy="493776"/>
          </a:xfrm>
          <a:prstGeom prst="rect">
            <a:avLst/>
          </a:prstGeom>
          <a:solidFill>
            <a:srgbClr val="6E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5" y="3035808"/>
            <a:ext cx="1828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6E9633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5" y="4169663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D211B"/>
                </a:solidFill>
                <a:latin typeface="Aptos"/>
              </a:rPr>
              <a:t>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5" y="4572000"/>
            <a:ext cx="1847088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Compare fields, breeds, seasons, and interventions across the network.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91088" y="237744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1D211B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371600" cy="347472"/>
          </a:xfrm>
          <a:prstGeom prst="roundRect">
            <a:avLst>
              <a:gd name="adj" fmla="val 14000"/>
            </a:avLst>
          </a:prstGeom>
          <a:solidFill>
            <a:srgbClr val="D7B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20700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1D211B"/>
                </a:solidFill>
                <a:latin typeface="Aptos"/>
              </a:rPr>
              <a:t>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594360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D211B"/>
                </a:solidFill>
                <a:latin typeface="Aptos"/>
              </a:rPr>
              <a:t>Every action should feed a record system the wider network can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5760720" cy="8778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62685B"/>
                </a:solidFill>
                <a:latin typeface="Aptos"/>
              </a:rPr>
              <a:t>FarmsCity preserves field history, herd events, treatments, harvests, and operator activity so decisions are made against real history instead of memory.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87184" y="896112"/>
            <a:ext cx="3858768" cy="5138928"/>
          </a:xfrm>
          <a:prstGeom prst="rect">
            <a:avLst/>
          </a:prstGeom>
          <a:solidFill>
            <a:srgbClr val="3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61504" y="1170432"/>
            <a:ext cx="3310128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371600"/>
            <a:ext cx="2962656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Field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1828800"/>
            <a:ext cx="2944368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Planting, spraying, harvest, and labor remain linked.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61504" y="2523744"/>
            <a:ext cx="3310128" cy="950976"/>
          </a:xfrm>
          <a:prstGeom prst="roundRect">
            <a:avLst>
              <a:gd name="adj" fmla="val 4000"/>
            </a:avLst>
          </a:prstGeom>
          <a:solidFill>
            <a:srgbClr val="D7B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2724912"/>
            <a:ext cx="2962656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Livestock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3182112"/>
            <a:ext cx="2944368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Health, breeding, and feed patterns stay reviewable.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3877056"/>
            <a:ext cx="3310128" cy="9509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2" y="4078224"/>
            <a:ext cx="2962656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Network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4535424"/>
            <a:ext cx="2944368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Managers and programs can compare clean activity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91088" y="237744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1D211B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50976"/>
            <a:ext cx="1371600" cy="347472"/>
          </a:xfrm>
          <a:prstGeom prst="roundRect">
            <a:avLst>
              <a:gd name="adj" fmla="val 14000"/>
            </a:avLst>
          </a:prstGeom>
          <a:solidFill>
            <a:srgbClr val="6E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014984"/>
            <a:ext cx="120700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612648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D211B"/>
                </a:solidFill>
                <a:latin typeface="Aptos"/>
              </a:rPr>
              <a:t>FarmsCity serves both individual operators and larger agricultural networks.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07792"/>
            <a:ext cx="2505456" cy="1719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108960"/>
            <a:ext cx="2157984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Farm owners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566160"/>
            <a:ext cx="2139696" cy="8778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Run crops, livestock, and records from one operating surface.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9312" y="2907792"/>
            <a:ext cx="2505456" cy="1719072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3108960"/>
            <a:ext cx="2157984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Cooperatives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566160"/>
            <a:ext cx="2139696" cy="8778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Standardize field visibility and reporting across members.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2907792"/>
            <a:ext cx="2505456" cy="1719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108960"/>
            <a:ext cx="2157984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Extension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566160"/>
            <a:ext cx="2139696" cy="8778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Track follow-up, support activity, and field histories.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2907792"/>
            <a:ext cx="1956816" cy="1719072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3108960"/>
            <a:ext cx="1609344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Programs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3566160"/>
            <a:ext cx="1591056" cy="8778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Support deployment, oversight, and performance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91088" y="237744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1D211B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32688"/>
            <a:ext cx="1810511" cy="347472"/>
          </a:xfrm>
          <a:prstGeom prst="roundRect">
            <a:avLst>
              <a:gd name="adj" fmla="val 14000"/>
            </a:avLst>
          </a:prstGeom>
          <a:solidFill>
            <a:srgbClr val="B9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996696"/>
            <a:ext cx="1645919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DIFFERENTIATION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621792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D211B"/>
                </a:solidFill>
                <a:latin typeface="Aptos"/>
              </a:rPr>
              <a:t>The moat is operational coordination across farms, not isolated logging.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87168"/>
            <a:ext cx="10149840" cy="54864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944368"/>
            <a:ext cx="3154680" cy="1865376"/>
          </a:xfrm>
          <a:prstGeom prst="roundRect">
            <a:avLst>
              <a:gd name="adj" fmla="val 4000"/>
            </a:avLst>
          </a:prstGeom>
          <a:solidFill>
            <a:srgbClr val="E4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45536"/>
            <a:ext cx="280720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Network-aware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602736"/>
            <a:ext cx="2788920" cy="10241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Built for single farms and multi-site operating structures.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944368"/>
            <a:ext cx="3154680" cy="1865376"/>
          </a:xfrm>
          <a:prstGeom prst="roundRect">
            <a:avLst>
              <a:gd name="adj" fmla="val 4000"/>
            </a:avLst>
          </a:prstGeom>
          <a:solidFill>
            <a:srgbClr val="E8D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145536"/>
            <a:ext cx="280720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Decision 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602736"/>
            <a:ext cx="2788920" cy="10241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Weather, field, and livestock context stay close to the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416" y="2944368"/>
            <a:ext cx="3154680" cy="1865376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3145536"/>
            <a:ext cx="280720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Persistent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4" y="3602736"/>
            <a:ext cx="2788920" cy="10241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Historical records stay usable across seasons and staff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91088" y="237744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932688"/>
            <a:ext cx="1371600" cy="3474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996696"/>
            <a:ext cx="120700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1D211B"/>
                </a:solidFill>
                <a:latin typeface="Aptos"/>
              </a:rP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26464"/>
            <a:ext cx="621792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The market spans operators, cooperatives, advisory networks, and agricultural programs.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6035040" cy="85953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E4E8DD"/>
                </a:solidFill>
                <a:latin typeface="Aptos"/>
              </a:rPr>
              <a:t>The same platform can start as a farm operating system and grow into a coordination layer for larger agricultural ecosystems.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9168" y="1225296"/>
            <a:ext cx="3657600" cy="1005840"/>
          </a:xfrm>
          <a:prstGeom prst="roundRect">
            <a:avLst>
              <a:gd name="adj" fmla="val 4000"/>
            </a:avLst>
          </a:prstGeom>
          <a:solidFill>
            <a:srgbClr val="D7B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0336" y="1426464"/>
            <a:ext cx="331012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Direct farm subscriptions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0336" y="1883664"/>
            <a:ext cx="32918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Operational software for owners and managers.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59168" y="2615184"/>
            <a:ext cx="36576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0336" y="2816352"/>
            <a:ext cx="331012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Cooperative deployments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0336" y="3273552"/>
            <a:ext cx="32918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Shared records and reporting across member farms.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59168" y="4005072"/>
            <a:ext cx="3657600" cy="1005840"/>
          </a:xfrm>
          <a:prstGeom prst="roundRect">
            <a:avLst>
              <a:gd name="adj" fmla="val 4000"/>
            </a:avLst>
          </a:prstGeom>
          <a:solidFill>
            <a:srgbClr val="D5E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4206240"/>
            <a:ext cx="331012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Program and advisory rollouts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0336" y="4663440"/>
            <a:ext cx="32918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Visibility and support for field-level operations.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91088" y="237744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1D211B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50976"/>
            <a:ext cx="1717243" cy="347472"/>
          </a:xfrm>
          <a:prstGeom prst="roundRect">
            <a:avLst>
              <a:gd name="adj" fmla="val 14000"/>
            </a:avLst>
          </a:prstGeom>
          <a:solidFill>
            <a:srgbClr val="6E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014984"/>
            <a:ext cx="1552651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557784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D211B"/>
                </a:solidFill>
                <a:latin typeface="Aptos"/>
              </a:rPr>
              <a:t>Software revenue, deployment support, and network operations tooling.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99232"/>
            <a:ext cx="3200400" cy="17739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00400"/>
            <a:ext cx="285292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Farm subscriptions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57600"/>
            <a:ext cx="2834640" cy="9326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Charge for access by farm, manager, or operating team.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999232"/>
            <a:ext cx="3200400" cy="1773936"/>
          </a:xfrm>
          <a:prstGeom prst="roundRect">
            <a:avLst>
              <a:gd name="adj" fmla="val 4000"/>
            </a:avLst>
          </a:prstGeom>
          <a:solidFill>
            <a:srgbClr val="E8D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3200400"/>
            <a:ext cx="285292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Cooperative licenses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657600"/>
            <a:ext cx="2834640" cy="9326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Support group reporting, monitoring, and deployment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416" y="2999232"/>
            <a:ext cx="3200400" cy="1773936"/>
          </a:xfrm>
          <a:prstGeom prst="roundRect">
            <a:avLst>
              <a:gd name="adj" fmla="val 4000"/>
            </a:avLst>
          </a:prstGeom>
          <a:solidFill>
            <a:srgbClr val="E4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1584" y="3200400"/>
            <a:ext cx="285292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D211B"/>
                </a:solidFill>
                <a:latin typeface="Aptos"/>
              </a:rPr>
              <a:t>Implementation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1584" y="3657600"/>
            <a:ext cx="2834640" cy="9326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Rollout, workflow design, and reporting support for larger operators.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91088" y="237744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1D211B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950976"/>
            <a:ext cx="1371600" cy="347472"/>
          </a:xfrm>
          <a:prstGeom prst="roundRect">
            <a:avLst>
              <a:gd name="adj" fmla="val 14000"/>
            </a:avLst>
          </a:prstGeom>
          <a:solidFill>
            <a:srgbClr val="3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014984"/>
            <a:ext cx="120700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603504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D211B"/>
                </a:solidFill>
                <a:latin typeface="Aptos"/>
              </a:rPr>
              <a:t>The build path starts with operations and expands into network intelligence.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75887"/>
            <a:ext cx="10104120" cy="7315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4128" y="3474720"/>
            <a:ext cx="146304" cy="512064"/>
          </a:xfrm>
          <a:prstGeom prst="rect">
            <a:avLst/>
          </a:prstGeom>
          <a:solidFill>
            <a:srgbClr val="D7B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2706624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D211B"/>
                </a:solidFill>
                <a:latin typeface="Aptos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041648"/>
            <a:ext cx="2395728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Core crop, livestock, weather, and record modules for direct farm use.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3474720"/>
            <a:ext cx="146304" cy="512064"/>
          </a:xfrm>
          <a:prstGeom prst="rect">
            <a:avLst/>
          </a:prstGeom>
          <a:solidFill>
            <a:srgbClr val="B9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706624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D211B"/>
                </a:solidFill>
                <a:latin typeface="Aptos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4041648"/>
            <a:ext cx="2395728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Inventory workflows, stronger alerts, and cross-site comparison.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7808" y="3474720"/>
            <a:ext cx="146304" cy="512064"/>
          </a:xfrm>
          <a:prstGeom prst="rect">
            <a:avLst/>
          </a:prstGeom>
          <a:solidFill>
            <a:srgbClr val="6E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706624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D211B"/>
                </a:solidFill>
                <a:latin typeface="Aptos"/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4041648"/>
            <a:ext cx="2395728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Deeper network reporting, advisory coordination, and predictive planning.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5836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6236208"/>
            <a:ext cx="10771632" cy="27432"/>
          </a:xfrm>
          <a:prstGeom prst="rect">
            <a:avLst/>
          </a:prstGeom>
          <a:solidFill>
            <a:srgbClr val="1D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91088" y="237744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1D211B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877824"/>
            <a:ext cx="10588752" cy="5394960"/>
          </a:xfrm>
          <a:prstGeom prst="rect">
            <a:avLst/>
          </a:prstGeom>
          <a:solidFill>
            <a:srgbClr val="6E9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5568" y="1243584"/>
            <a:ext cx="731520" cy="731520"/>
          </a:xfrm>
          <a:prstGeom prst="roundRect">
            <a:avLst>
              <a:gd name="adj" fmla="val 18000"/>
            </a:avLst>
          </a:prstGeom>
          <a:solidFill>
            <a:srgbClr val="13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40461" y="1689632"/>
            <a:ext cx="481732" cy="107051"/>
          </a:xfrm>
          <a:prstGeom prst="roundRect">
            <a:avLst>
              <a:gd name="adj" fmla="val 8000"/>
            </a:avLst>
          </a:prstGeom>
          <a:solidFill>
            <a:srgbClr val="D88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76145" y="1743158"/>
            <a:ext cx="410364" cy="62446"/>
          </a:xfrm>
          <a:prstGeom prst="roundRect">
            <a:avLst>
              <a:gd name="adj" fmla="val 8000"/>
            </a:avLst>
          </a:prstGeom>
          <a:solidFill>
            <a:srgbClr val="F5E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76145" y="1520134"/>
            <a:ext cx="160577" cy="142735"/>
          </a:xfrm>
          <a:prstGeom prst="rect">
            <a:avLst/>
          </a:prstGeom>
          <a:solidFill>
            <a:srgbClr val="2F7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36723" y="1493371"/>
            <a:ext cx="124893" cy="169498"/>
          </a:xfrm>
          <a:prstGeom prst="rect">
            <a:avLst/>
          </a:prstGeom>
          <a:solidFill>
            <a:srgbClr val="88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61616" y="1520134"/>
            <a:ext cx="124893" cy="142735"/>
          </a:xfrm>
          <a:prstGeom prst="rect">
            <a:avLst/>
          </a:prstGeom>
          <a:solidFill>
            <a:srgbClr val="4E7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65355" y="1368477"/>
            <a:ext cx="71367" cy="98130"/>
          </a:xfrm>
          <a:prstGeom prst="rect">
            <a:avLst/>
          </a:prstGeom>
          <a:solidFill>
            <a:srgbClr val="88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486" y="1341714"/>
            <a:ext cx="71367" cy="107051"/>
          </a:xfrm>
          <a:prstGeom prst="rect">
            <a:avLst/>
          </a:prstGeom>
          <a:solidFill>
            <a:srgbClr val="F0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61616" y="1377398"/>
            <a:ext cx="71367" cy="89209"/>
          </a:xfrm>
          <a:prstGeom prst="rect">
            <a:avLst/>
          </a:prstGeom>
          <a:solidFill>
            <a:srgbClr val="7E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5568" y="2139696"/>
            <a:ext cx="1371600" cy="3474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2203704"/>
            <a:ext cx="120700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1D211B"/>
                </a:solidFill>
                <a:latin typeface="Aptos"/>
              </a:rPr>
              <a:t>CLOSING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651760"/>
            <a:ext cx="5852160" cy="7498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FarmsCity gives agriculture a cleaner operating network.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547872"/>
            <a:ext cx="57607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E4E8DD"/>
                </a:solidFill>
                <a:latin typeface="Aptos"/>
              </a:rPr>
              <a:t>The product connects crops, livestock, weather, records, and performance so farms and agricultural networks can act earlier and learn faster.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71231" y="1298448"/>
            <a:ext cx="3127248" cy="914400"/>
          </a:xfrm>
          <a:prstGeom prst="rect">
            <a:avLst/>
          </a:prstGeom>
          <a:solidFill>
            <a:srgbClr val="D7B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19872" y="2505456"/>
            <a:ext cx="2578608" cy="749808"/>
          </a:xfrm>
          <a:prstGeom prst="rect">
            <a:avLst/>
          </a:prstGeom>
          <a:solidFill>
            <a:srgbClr val="B9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02736"/>
            <a:ext cx="3127248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3986784"/>
            <a:ext cx="25603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D211B"/>
                </a:solidFill>
                <a:latin typeface="Aptos"/>
              </a:rPr>
              <a:t>FarmsCity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5" y="4425696"/>
            <a:ext cx="2523744" cy="6035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2685B"/>
                </a:solidFill>
                <a:latin typeface="Aptos"/>
              </a:rPr>
              <a:t>Agricultural operations platform for crops, livestock, records, and weather-aware network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